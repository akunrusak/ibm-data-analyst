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B4A"/>
                </a:solidFill>
                <a:latin typeface="Arial"/>
              </a:rPr>
              <a:t>% Currently Using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Respondents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JavaScript</c:v>
                  </c:pt>
                  <c:pt idx="1">
                    <c:v>Python</c:v>
                  </c:pt>
                  <c:pt idx="2">
                    <c:v>TypeScript</c:v>
                  </c:pt>
                  <c:pt idx="3">
                    <c:v>Java</c:v>
                  </c:pt>
                  <c:pt idx="4">
                    <c:v>C#</c:v>
                  </c:pt>
                  <c:pt idx="5">
                    <c:v>C++</c:v>
                  </c:pt>
                  <c:pt idx="6">
                    <c:v>PHP</c:v>
                  </c:pt>
                  <c:pt idx="7">
                    <c:v>Go</c:v>
                  </c:pt>
                  <c:pt idx="8">
                    <c:v>Rust</c:v>
                  </c:pt>
                  <c:pt idx="9">
                    <c:v>Kotlin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62.3</c:v>
                </c:pt>
                <c:pt idx="1">
                  <c:v>51</c:v>
                </c:pt>
                <c:pt idx="2">
                  <c:v>38.5</c:v>
                </c:pt>
                <c:pt idx="3">
                  <c:v>30.3</c:v>
                </c:pt>
                <c:pt idx="4">
                  <c:v>27.1</c:v>
                </c:pt>
                <c:pt idx="5">
                  <c:v>23</c:v>
                </c:pt>
                <c:pt idx="6">
                  <c:v>18.6</c:v>
                </c:pt>
                <c:pt idx="7">
                  <c:v>14.7</c:v>
                </c:pt>
                <c:pt idx="8">
                  <c:v>13.1</c:v>
                </c:pt>
                <c:pt idx="9">
                  <c:v>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B4A"/>
                </a:solidFill>
                <a:latin typeface="Arial"/>
              </a:rPr>
              <a:t>% Want to Learn/Use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Want to Use Next Year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Python</c:v>
                  </c:pt>
                  <c:pt idx="1">
                    <c:v>JavaScript</c:v>
                  </c:pt>
                  <c:pt idx="2">
                    <c:v>TypeScript</c:v>
                  </c:pt>
                  <c:pt idx="3">
                    <c:v>Rust</c:v>
                  </c:pt>
                  <c:pt idx="4">
                    <c:v>Go</c:v>
                  </c:pt>
                  <c:pt idx="5">
                    <c:v>Kotlin</c:v>
                  </c:pt>
                  <c:pt idx="6">
                    <c:v>Java</c:v>
                  </c:pt>
                  <c:pt idx="7">
                    <c:v>C#</c:v>
                  </c:pt>
                  <c:pt idx="8">
                    <c:v>Swift</c:v>
                  </c:pt>
                  <c:pt idx="9">
                    <c:v>Scala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57.5</c:v>
                </c:pt>
                <c:pt idx="1">
                  <c:v>54.1</c:v>
                </c:pt>
                <c:pt idx="2">
                  <c:v>46.2</c:v>
                </c:pt>
                <c:pt idx="3">
                  <c:v>28.3</c:v>
                </c:pt>
                <c:pt idx="4">
                  <c:v>22.1</c:v>
                </c:pt>
                <c:pt idx="5">
                  <c:v>18.4</c:v>
                </c:pt>
                <c:pt idx="6">
                  <c:v>17.9</c:v>
                </c:pt>
                <c:pt idx="7">
                  <c:v>16.5</c:v>
                </c:pt>
                <c:pt idx="8">
                  <c:v>12.3</c:v>
                </c:pt>
                <c:pt idx="9">
                  <c:v>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B4A"/>
                </a:solidFill>
                <a:latin typeface="Arial"/>
              </a:rPr>
              <a:t>% Currently Using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Currently Using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PostgreSQL</c:v>
                  </c:pt>
                  <c:pt idx="1">
                    <c:v>MySQL</c:v>
                  </c:pt>
                  <c:pt idx="2">
                    <c:v>SQLite</c:v>
                  </c:pt>
                  <c:pt idx="3">
                    <c:v>MongoDB</c:v>
                  </c:pt>
                  <c:pt idx="4">
                    <c:v>Microsoft SQL</c:v>
                  </c:pt>
                  <c:pt idx="5">
                    <c:v>Redis</c:v>
                  </c:pt>
                  <c:pt idx="6">
                    <c:v>MariaDB</c:v>
                  </c:pt>
                  <c:pt idx="7">
                    <c:v>Elasticsearch</c:v>
                  </c:pt>
                  <c:pt idx="8">
                    <c:v>Oracle</c:v>
                  </c:pt>
                  <c:pt idx="9">
                    <c:v>DynamoDB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49.1</c:v>
                </c:pt>
                <c:pt idx="1">
                  <c:v>40.6</c:v>
                </c:pt>
                <c:pt idx="2">
                  <c:v>33.1</c:v>
                </c:pt>
                <c:pt idx="3">
                  <c:v>24.8</c:v>
                </c:pt>
                <c:pt idx="4">
                  <c:v>22.1</c:v>
                </c:pt>
                <c:pt idx="5">
                  <c:v>18.7</c:v>
                </c:pt>
                <c:pt idx="6">
                  <c:v>14.3</c:v>
                </c:pt>
                <c:pt idx="7">
                  <c:v>12.6</c:v>
                </c:pt>
                <c:pt idx="8">
                  <c:v>10.1</c:v>
                </c:pt>
                <c:pt idx="9">
                  <c:v>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2B4A"/>
                </a:solidFill>
                <a:latin typeface="Arial"/>
              </a:rPr>
              <a:t>% Want to Learn/Use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Want to Use Next Year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PostgreSQL</c:v>
                  </c:pt>
                  <c:pt idx="1">
                    <c:v>MongoDB</c:v>
                  </c:pt>
                  <c:pt idx="2">
                    <c:v>Redis</c:v>
                  </c:pt>
                  <c:pt idx="3">
                    <c:v>MySQL</c:v>
                  </c:pt>
                  <c:pt idx="4">
                    <c:v>Elasticsearch</c:v>
                  </c:pt>
                  <c:pt idx="5">
                    <c:v>SQLite</c:v>
                  </c:pt>
                  <c:pt idx="6">
                    <c:v>DynamoDB</c:v>
                  </c:pt>
                  <c:pt idx="7">
                    <c:v>Cassandra</c:v>
                  </c:pt>
                  <c:pt idx="8">
                    <c:v>Snowflake</c:v>
                  </c:pt>
                  <c:pt idx="9">
                    <c:v>Neo4j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43.6</c:v>
                </c:pt>
                <c:pt idx="1">
                  <c:v>28.3</c:v>
                </c:pt>
                <c:pt idx="2">
                  <c:v>26.1</c:v>
                </c:pt>
                <c:pt idx="3">
                  <c:v>22.4</c:v>
                </c:pt>
                <c:pt idx="4">
                  <c:v>19.8</c:v>
                </c:pt>
                <c:pt idx="5">
                  <c:v>17.5</c:v>
                </c:pt>
                <c:pt idx="6">
                  <c:v>15.3</c:v>
                </c:pt>
                <c:pt idx="7">
                  <c:v>11.2</c:v>
                </c:pt>
                <c:pt idx="8">
                  <c:v>10.7</c:v>
                </c:pt>
                <c:pt idx="9">
                  <c:v>7.3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A2B4A"/>
                </a:solidFill>
                <a:latin typeface="Arial"/>
              </a:rPr>
              <a:t>Number of Job Postings (ordered by descending count)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 Postings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Python</c:v>
                  </c:pt>
                  <c:pt idx="1">
                    <c:v>SQL</c:v>
                  </c:pt>
                  <c:pt idx="2">
                    <c:v>JavaScript</c:v>
                  </c:pt>
                  <c:pt idx="3">
                    <c:v>Java</c:v>
                  </c:pt>
                  <c:pt idx="4">
                    <c:v>AWS</c:v>
                  </c:pt>
                  <c:pt idx="5">
                    <c:v>TypeScript</c:v>
                  </c:pt>
                  <c:pt idx="6">
                    <c:v>C#</c:v>
                  </c:pt>
                  <c:pt idx="7">
                    <c:v>React</c:v>
                  </c:pt>
                  <c:pt idx="8">
                    <c:v>Docker</c:v>
                  </c:pt>
                  <c:pt idx="9">
                    <c:v>Node.js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86420</c:v>
                </c:pt>
                <c:pt idx="1">
                  <c:v>78930</c:v>
                </c:pt>
                <c:pt idx="2">
                  <c:v>72100</c:v>
                </c:pt>
                <c:pt idx="3">
                  <c:v>64500</c:v>
                </c:pt>
                <c:pt idx="4">
                  <c:v>58300</c:v>
                </c:pt>
                <c:pt idx="5">
                  <c:v>47800</c:v>
                </c:pt>
                <c:pt idx="6">
                  <c:v>43200</c:v>
                </c:pt>
                <c:pt idx="7">
                  <c:v>39600</c:v>
                </c:pt>
                <c:pt idx="8">
                  <c:v>35100</c:v>
                </c:pt>
                <c:pt idx="9">
                  <c:v>31200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2B4A"/>
                </a:solidFill>
                <a:latin typeface="Arial"/>
              </a:rPr>
              <a:t>Top Languages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Languages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JS</c:v>
                  </c:pt>
                  <c:pt idx="1">
                    <c:v>Python</c:v>
                  </c:pt>
                  <c:pt idx="2">
                    <c:v>TS</c:v>
                  </c:pt>
                  <c:pt idx="3">
                    <c:v>Java</c:v>
                  </c:pt>
                  <c:pt idx="4">
                    <c:v>C#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62.3</c:v>
                </c:pt>
                <c:pt idx="1">
                  <c:v>51</c:v>
                </c:pt>
                <c:pt idx="2">
                  <c:v>38.5</c:v>
                </c:pt>
                <c:pt idx="3">
                  <c:v>30.3</c:v>
                </c:pt>
                <c:pt idx="4">
                  <c:v>27.1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2B4A"/>
                </a:solidFill>
                <a:latin typeface="Arial"/>
              </a:rPr>
              <a:t>Top Databases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Databases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PostgreSQL</c:v>
                  </c:pt>
                  <c:pt idx="1">
                    <c:v>MySQL</c:v>
                  </c:pt>
                  <c:pt idx="2">
                    <c:v>SQLite</c:v>
                  </c:pt>
                  <c:pt idx="3">
                    <c:v>MongoDB</c:v>
                  </c:pt>
                  <c:pt idx="4">
                    <c:v>SQL Server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49.1</c:v>
                </c:pt>
                <c:pt idx="1">
                  <c:v>40.6</c:v>
                </c:pt>
                <c:pt idx="2">
                  <c:v>33.1</c:v>
                </c:pt>
                <c:pt idx="3">
                  <c:v>24.8</c:v>
                </c:pt>
                <c:pt idx="4">
                  <c:v>22.1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2B4A"/>
                </a:solidFill>
                <a:latin typeface="Arial"/>
              </a:rPr>
              <a:t>Platform Share (%)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Platform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6D2E46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Linux</c:v>
                </c:pt>
                <c:pt idx="1">
                  <c:v>Windows</c:v>
                </c:pt>
                <c:pt idx="2">
                  <c:v>macOS</c:v>
                </c:pt>
                <c:pt idx="3">
                  <c:v>BSDs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47.2</c:v>
                </c:pt>
                <c:pt idx="1">
                  <c:v>26.3</c:v>
                </c:pt>
                <c:pt idx="2">
                  <c:v>31.5</c:v>
                </c:pt>
                <c:pt idx="3">
                  <c:v>1.8</c:v>
                </c:pt>
                <c:pt idx="4">
                  <c:v>3.2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2B4A"/>
                </a:solidFill>
                <a:latin typeface="Arial"/>
              </a:rPr>
              <a:t>Languages Wanted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Languages Wanted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Python</c:v>
                  </c:pt>
                  <c:pt idx="1">
                    <c:v>JS</c:v>
                  </c:pt>
                  <c:pt idx="2">
                    <c:v>TS</c:v>
                  </c:pt>
                  <c:pt idx="3">
                    <c:v>Rust</c:v>
                  </c:pt>
                  <c:pt idx="4">
                    <c:v>Go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57.5</c:v>
                </c:pt>
                <c:pt idx="1">
                  <c:v>54.1</c:v>
                </c:pt>
                <c:pt idx="2">
                  <c:v>46.2</c:v>
                </c:pt>
                <c:pt idx="3">
                  <c:v>28.3</c:v>
                </c:pt>
                <c:pt idx="4">
                  <c:v>22.1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2B4A"/>
                </a:solidFill>
                <a:latin typeface="Arial"/>
              </a:rPr>
              <a:t>Databases Wanted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DBs Wanted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PostgreSQL</c:v>
                  </c:pt>
                  <c:pt idx="1">
                    <c:v>MongoDB</c:v>
                  </c:pt>
                  <c:pt idx="2">
                    <c:v>Redis</c:v>
                  </c:pt>
                  <c:pt idx="3">
                    <c:v>MySQL</c:v>
                  </c:pt>
                  <c:pt idx="4">
                    <c:v>Elastic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43.6</c:v>
                </c:pt>
                <c:pt idx="1">
                  <c:v>28.3</c:v>
                </c:pt>
                <c:pt idx="2">
                  <c:v>26.1</c:v>
                </c:pt>
                <c:pt idx="3">
                  <c:v>22.4</c:v>
                </c:pt>
                <c:pt idx="4">
                  <c:v>19.8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2B4A"/>
                </a:solidFill>
                <a:latin typeface="Arial"/>
              </a:rPr>
              <a:t>Tools &amp; Cloud Wanted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Tools Wanted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Docker</c:v>
                  </c:pt>
                  <c:pt idx="1">
                    <c:v>AWS</c:v>
                  </c:pt>
                  <c:pt idx="2">
                    <c:v>Kubernetes</c:v>
                  </c:pt>
                  <c:pt idx="3">
                    <c:v>Azure</c:v>
                  </c:pt>
                  <c:pt idx="4">
                    <c:v>GCP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52.1</c:v>
                </c:pt>
                <c:pt idx="1">
                  <c:v>49.3</c:v>
                </c:pt>
                <c:pt idx="2">
                  <c:v>42.7</c:v>
                </c:pt>
                <c:pt idx="3">
                  <c:v>38.4</c:v>
                </c:pt>
                <c:pt idx="4">
                  <c:v>31.2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2B4A"/>
                </a:solidFill>
                <a:latin typeface="Arial"/>
              </a:rPr>
              <a:t>Age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 Groups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6D2E46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18–24</c:v>
                </c:pt>
                <c:pt idx="1">
                  <c:v>25–34</c:v>
                </c:pt>
                <c:pt idx="2">
                  <c:v>35–44</c:v>
                </c:pt>
                <c:pt idx="3">
                  <c:v>45–54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21.3</c:v>
                </c:pt>
                <c:pt idx="1">
                  <c:v>41.5</c:v>
                </c:pt>
                <c:pt idx="2">
                  <c:v>22.8</c:v>
                </c:pt>
                <c:pt idx="3">
                  <c:v>9.7</c:v>
                </c:pt>
                <c:pt idx="4">
                  <c:v>4.7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2B4A"/>
                </a:solidFill>
                <a:latin typeface="Arial"/>
              </a:rPr>
              <a:t>Years of Experience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Experience</c:v>
                </c:pt>
              </c:strCache>
            </c:strRef>
          </c:tx>
          <c:spPr>
            <a:solidFill>
              <a:srgbClr val="1A2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&lt;1yr</c:v>
                  </c:pt>
                  <c:pt idx="1">
                    <c:v>1–4yr</c:v>
                  </c:pt>
                  <c:pt idx="2">
                    <c:v>5–9yr</c:v>
                  </c:pt>
                  <c:pt idx="3">
                    <c:v>10–14yr</c:v>
                  </c:pt>
                  <c:pt idx="4">
                    <c:v>15–19yr</c:v>
                  </c:pt>
                  <c:pt idx="5">
                    <c:v>20+yr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5.4</c:v>
                </c:pt>
                <c:pt idx="1">
                  <c:v>28.3</c:v>
                </c:pt>
                <c:pt idx="2">
                  <c:v>27.1</c:v>
                </c:pt>
                <c:pt idx="3">
                  <c:v>17.6</c:v>
                </c:pt>
                <c:pt idx="4">
                  <c:v>10.4</c:v>
                </c:pt>
                <c:pt idx="5">
                  <c:v>11.2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2B4A"/>
                </a:solidFill>
                <a:latin typeface="Arial"/>
              </a:rPr>
              <a:t>Respondents by Country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Countries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USA</c:v>
                  </c:pt>
                  <c:pt idx="1">
                    <c:v>India</c:v>
                  </c:pt>
                  <c:pt idx="2">
                    <c:v>Germany</c:v>
                  </c:pt>
                  <c:pt idx="3">
                    <c:v>UK</c:v>
                  </c:pt>
                  <c:pt idx="4">
                    <c:v>Canada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21.4</c:v>
                </c:pt>
                <c:pt idx="1">
                  <c:v>14.1</c:v>
                </c:pt>
                <c:pt idx="2">
                  <c:v>7.2</c:v>
                </c:pt>
                <c:pt idx="3">
                  <c:v>6.4</c:v>
                </c:pt>
                <c:pt idx="4">
                  <c:v>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A2B4A"/>
                </a:solidFill>
                <a:latin typeface="Arial"/>
              </a:defRPr>
            </a:pPr>
            <a:r>
              <a:rPr sz="900" b="0" i="0" u="none" strike="noStrike">
                <a:solidFill>
                  <a:srgbClr val="1A2B4A"/>
                </a:solidFill>
                <a:latin typeface="Arial"/>
              </a:rPr>
              <a:t>Fig B: Usage vs Desire (top 5 languages)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Currently Using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JavaScript</c:v>
                  </c:pt>
                  <c:pt idx="1">
                    <c:v>Python</c:v>
                  </c:pt>
                  <c:pt idx="2">
                    <c:v>TypeScript</c:v>
                  </c:pt>
                  <c:pt idx="3">
                    <c:v>Java</c:v>
                  </c:pt>
                  <c:pt idx="4">
                    <c:v>C#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62.3</c:v>
                </c:pt>
                <c:pt idx="1">
                  <c:v>51</c:v>
                </c:pt>
                <c:pt idx="2">
                  <c:v>38.5</c:v>
                </c:pt>
                <c:pt idx="3">
                  <c:v>30.3</c:v>
                </c:pt>
                <c:pt idx="4">
                  <c:v>27.1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Want to Use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JavaScript</c:v>
                  </c:pt>
                  <c:pt idx="1">
                    <c:v>Python</c:v>
                  </c:pt>
                  <c:pt idx="2">
                    <c:v>TypeScript</c:v>
                  </c:pt>
                  <c:pt idx="3">
                    <c:v>Java</c:v>
                  </c:pt>
                  <c:pt idx="4">
                    <c:v>C#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54.1</c:v>
                </c:pt>
                <c:pt idx="1">
                  <c:v>57.5</c:v>
                </c:pt>
                <c:pt idx="2">
                  <c:v>46.2</c:v>
                </c:pt>
                <c:pt idx="3">
                  <c:v>17.9</c:v>
                </c:pt>
                <c:pt idx="4">
                  <c:v>16.5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chart" Target="/ppt/charts/chart1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chart" Target="/ppt/charts/chart1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365760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457200"/>
            <a:ext cx="164592" cy="16459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457200"/>
            <a:ext cx="164592" cy="16459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457200"/>
            <a:ext cx="164592" cy="16459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0" y="1554480"/>
            <a:ext cx="164592" cy="16459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1554480"/>
            <a:ext cx="164592" cy="16459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554480"/>
            <a:ext cx="164592" cy="16459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2651760"/>
            <a:ext cx="164592" cy="16459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9480" y="2651760"/>
            <a:ext cx="164592" cy="16459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2651760"/>
            <a:ext cx="164592" cy="16459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3749040"/>
            <a:ext cx="164592" cy="16459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69480" y="3749040"/>
            <a:ext cx="164592" cy="16459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3749040"/>
            <a:ext cx="164592" cy="164592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8229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13258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Survey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57200" y="28803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into Programming Languages, Databases,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and Developer Demographics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20116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Alex Morgan  |  May 2025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1031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SURVEY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30632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90,000+ Respondents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key sections covered in this report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4747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159105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 and takeaways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4023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88720"/>
            <a:ext cx="34747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18872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12080" y="126187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12080" y="159105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audience, and value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4023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103120"/>
            <a:ext cx="34747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0312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17627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250545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collection, and wrangling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103120"/>
            <a:ext cx="4023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103120"/>
            <a:ext cx="34747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10312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217627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 Trends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12080" y="250545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usage &amp; next-year demand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4023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17520"/>
            <a:ext cx="34747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1752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09067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Trends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68680" y="341985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databases in use and future demand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017520"/>
            <a:ext cx="4023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017520"/>
            <a:ext cx="34747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01752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12080" y="309067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 Analysis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212080" y="341985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demand in the job market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931920"/>
            <a:ext cx="4023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931920"/>
            <a:ext cx="34747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93192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8680" y="400507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68680" y="433425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tech, future trends, demographics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931920"/>
            <a:ext cx="4023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3931920"/>
            <a:ext cx="34747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931920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12080" y="4005072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Findings &amp; Conclusions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212080" y="433425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and actionable insights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findings from the Stack Overflow Developer Survey 2024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8992" y="12801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Dominates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64592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leads as the most desired language for 5+ consecutive years, with JavaScript remaining the most widely used.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023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032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22392" y="12801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Rising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0328" y="164592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has overtaken MySQL as the top database, reflecting the shift toward open-source, scalable solutions.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4023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78992" y="2514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 Surge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288036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Azure, and Docker dominate tool adoption; cloud-native development is now the industry standard.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2423160"/>
            <a:ext cx="4023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0328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22392" y="251460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Evolving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0328" y="288036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population skews younger; 60%+ have under 10 years of experience, signaling talent pipeline growth.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4023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78992" y="3749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Insights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411480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SQL, and JavaScript top job postings, reinforcing alignment between survey skills and employer demand.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657600"/>
            <a:ext cx="4023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10328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22392" y="3749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Participation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0328" y="411480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US, India, Germany, and UK are the top contributing regions, showing truly global developer engagement.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Purpose, audience, and value of this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393192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393192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Purpose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Stack Overflow Developer Survey 2024 dataset — the world's largest annual developer poll with 90,000+ respondents.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technology trends shaping the software industry in 2024 and projected into 2025.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insights for developers, hiring managers, and technology leaders to align skills and strategies with market direction.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43000"/>
            <a:ext cx="4023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43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engineers &amp; developers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leaders &amp; technical recruiters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CTOs, VPs of Engineering, product managers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0233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926080"/>
            <a:ext cx="40233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926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33832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technology benchmarking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demand signals for upskilling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hiring &amp; investment guidance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collection methods, and wrangling steps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192024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192024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103120"/>
            <a:ext cx="17007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Developer Survey 2024 (public dataset). Supplemented with job-postings.xlsx for labor market context. ~90,000 global respondents across 180+ countries.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143000"/>
            <a:ext cx="192024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1430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70048" y="2103120"/>
            <a:ext cx="17007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voluntary online survey. Distributed via Stack Overflow platform and social channels. Data made publicly available via CSV download on Stack Overflow's official site.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192024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143000"/>
            <a:ext cx="192024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1430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Wrangling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73168" y="2103120"/>
            <a:ext cx="17007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entries and handled null/missing values. Exploded multi-value columns (e.g., LanguageHaveWorkedWith). Normalized salary data and standardized country labels.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66560" y="1143000"/>
            <a:ext cx="192024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143000"/>
            <a:ext cx="192024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1430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76288" y="2103120"/>
            <a:ext cx="170078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matplotlib, seaborn) for EDA. IBM Cognos / Looker Studio for dashboard creation. Excel for job-postings visualization and pivot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Programming Language Trends (Current Year)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languages developers are currently using — Stack Overflow Survey 2024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097280"/>
            <a:ext cx="274320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097280"/>
            <a:ext cx="274320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80760" y="15544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leads at 62.3%, its 12th consecutive year at #1.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surges to 51%, driven by AI/ML adoption.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enters top 3, reflecting preference for type safety.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usage grew 2× YoY — the most 'loved' language for 9 years.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and Java show declining trends among new developers.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Programming Language Trends (Next Year)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developers want to use — anticipated demand for 2025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097280"/>
            <a:ext cx="274320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09728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80760" y="15544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overtakes JS as the most desired language — prioritize AI/ML skilling.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demand +20% YoY: organizations should migrate JS codebases.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momentum is real — invest in systems programming expertise.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gains ground in backend/cloud-native development.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demand signals data engineering pipeline growth.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Database Trends (Current Usage)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databases developers use today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097280"/>
            <a:ext cx="274320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097280"/>
            <a:ext cx="27432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80760" y="15544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#1 for the 2nd consecutive year, surpassing MySQL with 49% usage.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at #3 reflects mobile and embedded development growth.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remains top NoSQL, but growth has plateaued.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adoption rising as real-time caching becomes standard.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and Microsoft SQL maintain enterprise strongholds.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Database Trends (Future Demand)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databases developers want to use next year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097280"/>
            <a:ext cx="2743200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097280"/>
            <a:ext cx="2743200" cy="38404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80760" y="15544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extends lead — invest in Postgres DBA expertise.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signals cloud data warehouse demand is accelerating.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DB (Neo4j) rising for recommendation engines and fraud detection.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 demand tied to high-throughput distributed system needs.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and Elasticsearch show no signs of slowing in cache/search use cases.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Postings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in highest demand based on job-postings.xlsx (descending order)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97280"/>
          <a:ext cx="5943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37960" y="1143000"/>
            <a:ext cx="2194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37960" y="1143000"/>
            <a:ext cx="18288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84848" y="12161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86,420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784848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#1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537960" y="2377440"/>
            <a:ext cx="2194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377440"/>
            <a:ext cx="18288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84848" y="2450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78,930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784848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#2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537960" y="3611880"/>
            <a:ext cx="2194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37960" y="3611880"/>
            <a:ext cx="18288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84848" y="3685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72,100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784848" y="4069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#3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job-postings.xlsx | Analysis period: 2024 Q1–Q4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423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interactive dashboards built in Cognos Analytics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3108960"/>
            <a:ext cx="23317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3108960"/>
            <a:ext cx="2331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108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53312" y="3218688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Technology Usage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3108960"/>
            <a:ext cx="23317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3108960"/>
            <a:ext cx="2331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3108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959352" y="3218688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Technology Trends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3108960"/>
            <a:ext cx="23317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3108960"/>
            <a:ext cx="233172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3108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65392" y="3218688"/>
            <a:ext cx="16642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Demographics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Tab 1: Current Technology Usage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from Cognos Analytics dashboard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Current Technology Usage  |  Cognos Analytics Dashboard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554480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3337560" y="1554480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2" descr=""/>
          <p:cNvGraphicFramePr/>
          <p:nvPr/>
        </p:nvGraphicFramePr>
        <p:xfrm>
          <a:off x="6080760" y="1554480"/>
          <a:ext cx="24688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Tab 2: Future Technology Trends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year's anticipated tools and languages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Future Technology Trends  |  Cognos Analytics Dashboard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554480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3337560" y="1554480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2" descr=""/>
          <p:cNvGraphicFramePr/>
          <p:nvPr/>
        </p:nvGraphicFramePr>
        <p:xfrm>
          <a:off x="6080760" y="1554480"/>
          <a:ext cx="24688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Tab 3: Demographics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background, experience, education, and geography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Developer Demographics  |  Cognos Analytics Dashboard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554480"/>
          <a:ext cx="25603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3291840" y="1554480"/>
          <a:ext cx="26517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2" descr=""/>
          <p:cNvGraphicFramePr/>
          <p:nvPr/>
        </p:nvGraphicFramePr>
        <p:xfrm>
          <a:off x="6080760" y="1554480"/>
          <a:ext cx="24688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Insights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derived from the three dashboard tabs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21615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Technology Usage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527048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&amp; Python together account for 113% combined usage (multiple languages per dev).   •   PostgreSQL has definitively overtaken MySQL in professional use.   •   Linux is the dominant OS for development environments at 47%.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04872"/>
            <a:ext cx="5029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04872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478024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Technology Trends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788920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demand will surpass JavaScript in 2025 — a watershed moment in language preference.   •   Cloud-native tooling (Docker, Kubernetes, AWS) is no longer optional — it's table stakes.   •   Rust and Go signal a systemic move toward performance-oriented, memory-safe languages.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82296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66744"/>
            <a:ext cx="502920" cy="10972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66744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7398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050792"/>
            <a:ext cx="7040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respondents have under 10 years of experience — the field is refreshing rapidly.   •   The 25–34 age band dominates at 41.5%, driving current tech choices and future adoption.   •   USA and India together represent 35% of global developer activity.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Findings &amp; Implications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industry signals from the 2024 Stack Overflow Survey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71016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71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is the defining force of 2025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145389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ascension to #1 desired language is directly tied to AI/ML adoption. Organizations that delay Python and data science investment will fall behind in competitive talent markets.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5681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is winning the database war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22219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PostgreSQL's rise and Oracle's stagnation reflect an industry-wide shift away from expensive proprietary licenses. Cloud-hosted Postgres services (Supabase, Neon, RDS) are rapidly gaining enterprise traction.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0720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72491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skills are non-negotiable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29900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Kubernetes, and AWS dominate both usage and desire. DevOps and cloud architecture are now baseline requirements — not specialist skills — for backend and full-stack roles.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575304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4930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talent pipeline is young and fast-moving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0120" y="37581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63% under 10 years of experience, companies must invest in structured mentorship and clear career ladders to retain junior developers and prevent high churn.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43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2611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Cross-referencing survey with job data confirms alignment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0120" y="4526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 analysis mirrors survey trends: Python, SQL, and JS dominate both developer preferences and employer demand, validating the survey as a reliable industry signal.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384048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16459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09728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TypeScript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languages to prioritize for skilling and hiring in 2025 — both show high desire and accelerating adoption.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84048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16459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10912" y="109728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database default — teams building new services should standardize on it unless a specific workload demands otherwise.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384048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04288"/>
            <a:ext cx="16459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395728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stack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(Docker + Kubernetes + AWS/Azure) is now foundational. Organizations should build hiring profiles around cloud competency, not just coding ability.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304288"/>
            <a:ext cx="384048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2304288"/>
            <a:ext cx="16459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2395728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junior talent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with the majority of developers being early-career, structured growth paths are the best retention tool.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384048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02736"/>
            <a:ext cx="16459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694176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L&amp;D with survey signals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Stack Overflow dataset provides a reliable annual benchmark for technology planning, hiring, and upskilling roadmaps.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602736"/>
            <a:ext cx="3840480" cy="114300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602736"/>
            <a:ext cx="16459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3694176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emerging tech early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Rust, Go, and graph databases represent the next wave. Organizations that invest proactively will gain talent and architecture advantages.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charts, tables, and references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A: Survey Respondent Overview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89888"/>
          <a:ext cx="8229600" cy="16916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Respondents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89,184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filtering incomplete submissions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Countries Represented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Covers all inhabited continents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 employed/freelance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 students or job-seeking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91.6% male, 5.2% female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diversity gap remains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 remote or hybrid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Post-pandemic norm solidified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457200" y="3154680"/>
          <a:ext cx="50292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5669280" y="3154680"/>
            <a:ext cx="3017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760720" y="32186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Data Sources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760720" y="3547872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Stack Overflow Developer Survey 2024
  survey.stackoverflow.co/2024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job-postings.xlsx (Course dataset)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IBM Cognos Analytics (Dashboard tool)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/ pandas for EDA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Overflow Developer Survey Analysis</dc:title>
  <dc:subject>PptxGenJS Presentation</dc:subject>
  <dc:creator>Data Analyst</dc:creator>
  <cp:lastModifiedBy>Data Analyst</cp:lastModifiedBy>
  <cp:revision>1</cp:revision>
  <dcterms:created xsi:type="dcterms:W3CDTF">2026-05-19T19:08:31Z</dcterms:created>
  <dcterms:modified xsi:type="dcterms:W3CDTF">2026-05-19T19:08:31Z</dcterms:modified>
</cp:coreProperties>
</file>